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sldIdLst>
    <p:sldId id="267" r:id="rId2"/>
    <p:sldId id="272" r:id="rId3"/>
    <p:sldId id="268" r:id="rId4"/>
    <p:sldId id="269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-36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8D12A-42DC-4867-94BC-07D4988D95BF}" type="datetimeFigureOut">
              <a:rPr lang="en-US" smtClean="0"/>
              <a:pPr/>
              <a:t>8/17/2023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401BB-BB16-4750-A072-2E4BA60AF3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6331ED-D0E2-43F2-94BE-923FD1812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2503C96-D43D-4A05-A67F-94389A067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D475DA1-A7A8-4F99-BEF1-87314FB6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37E-05AB-485E-84C2-D67FD8105F3C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9EA5ECC-CCB3-4F75-90EC-6EF3CBB5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46034E9-1CAE-4354-BEB0-D3C1E99B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21923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BFC854-C38B-4474-8838-1BA25E4C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9A7650-6A56-4B86-ADD1-1251FFCCF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316F08-CC57-4C4D-A3DA-B471FB61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E3A0-E0F3-40E4-87AC-0FCF1AE59DCF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02EC4D1-53DC-4DA0-89DC-A0F54E05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9019878-8101-42A8-A6B3-08FA09A4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5461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A505B9-D07B-4F53-B6EC-5A64B024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02E4C81-A45E-415D-A9F7-1CE96131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EFEFA3B-C1B4-4FCD-8A03-EB4320D2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44D0-00E9-42F5-9E07-4C61621FA72F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266CF25-E291-416B-9473-6BC22FC9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6161451-E70C-41D7-9180-7E8044BD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3576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B95686-B3FF-4E92-A917-B3C6C510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455816-C6DE-4292-9F61-5F196F9F0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7C5B983-934F-405D-98BA-7087211E0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6C13388-B431-4C68-9C11-608A633F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4A04-1F67-498E-8CEA-5C3E383F9A8E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D55A261-AD8B-4EEC-8F99-6D738EE4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B9E21D-E0EF-4C6F-9B7F-FF13CB8B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7862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D0F174-99A1-4F3D-B56F-A7EB1739D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2E1933B-84BE-4A1D-8753-07B6E940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31A03AE-B3A8-4B6B-B98D-B91F20BCD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B278C062-694A-4F89-B587-2DE748D4C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BEAA9FB-6CA3-4C00-B894-75068A98F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DA85DFA-4614-41CA-90FA-DB181BA6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59E83-A1CF-4F3D-BF0F-131C4CDDD633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339D20E-1DD0-426E-8752-BD4FD7D3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82F3C6B-60A7-4789-AAB0-D68C9265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9298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44F439-A562-4CAA-AE9C-9FBE469B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CDDD6A8-1977-47CD-8DDA-6F80FECF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163C-80D2-451A-9159-4D9F5F342D39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EF74676-F14B-465B-9F53-C3863A52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4D60199-C33E-4DBB-9EFF-0471F9A3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2475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D9B899B-BD35-4BAF-9675-A4A0B7C6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A28B-9FE1-4FA9-85B8-F59EAF855ACE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FF76203-365F-49F8-A924-60F370C5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8EFCAF-0CEF-4391-86A7-74DDD60B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4263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45D9F4-9E6E-4ED5-9A48-B71C5B9D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2FFCA3-0091-4E0B-AC85-1B5144780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F2BE596-5947-46E6-9169-ACC40B98B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4BBD205-61B1-445F-A8C0-D334AEAE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005F-EE33-4188-85ED-ADBA9E76084A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EA87A8D-C8FB-40C3-80BF-9228865D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75A57FE-1766-4BA8-B694-59100ADF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5279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2F7887-9A8F-4798-97D3-A5CC6E6E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F698CF9-E1AC-4A7F-B302-271A162B7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3C6A678-E389-4C4A-8FE2-D72B8F6B2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AF71436-DD99-47F0-940D-B13F7619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BDCF-B6E7-4BD3-8A7D-8A1B09F9D148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E4F060-5B10-43E2-BB64-D6C7E44B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118CFFD-06DD-47B0-A3EB-82187720E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4718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B820AE-AF87-4471-9236-C03AF245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EE136DF-E09F-47A9-A7F7-755E971B6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346DDBB-4789-48E8-B527-403210D0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30FE5-DD7D-4FC3-B04F-369F27ABBFE0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14EBA0-629C-4AC7-B32D-8AA0F138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E7ECA0-2576-45F2-894E-838556B2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4711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39AD926-A49C-4678-8960-11473499C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8619C6C-7251-47A4-B0FA-742EA4B7A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716EE0-31B8-4C0B-90E6-076D2FF5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136B-836D-4FF2-94B9-DB8652352389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E3F156B-C37F-4647-B6E7-D5DF98D9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7E145C8-44A8-4A20-A3C8-2FCD8954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54818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DD7C08D-E591-4818-9229-B79BB4B4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320B205-6185-481B-8A40-4A4BEAF7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C239BBE-F2E7-479C-8446-C767F449B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FA7AD-7A26-4FD3-91BC-98E0726E9247}" type="datetime1">
              <a:rPr lang="en-IN" smtClean="0"/>
              <a:pPr/>
              <a:t>17-08-2023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D7EDE62-B610-4AE9-BC51-888F5A318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4242770-A98C-44B1-A22D-C34717E78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21835-5839-4804-9EB3-50A87946BF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8824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Possible collaboration and contributions towards LIGO-India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75E158D-3A7B-7C44-BD27-417570D6B11A}"/>
              </a:ext>
            </a:extLst>
          </p:cNvPr>
          <p:cNvSpPr/>
          <p:nvPr/>
        </p:nvSpPr>
        <p:spPr>
          <a:xfrm>
            <a:off x="651930" y="4451324"/>
            <a:ext cx="1113366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800" dirty="0" smtClean="0"/>
              <a:t>Complementary measurements of supernova </a:t>
            </a:r>
            <a:r>
              <a:rPr lang="en-US" sz="2800" dirty="0" smtClean="0"/>
              <a:t>neutrinos using coherent Neutrino elastic scattering  using neutrino detector and Gravitational waves in LIGO-INDIA 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75E158D-3A7B-7C44-BD27-417570D6B11A}"/>
              </a:ext>
            </a:extLst>
          </p:cNvPr>
          <p:cNvSpPr/>
          <p:nvPr/>
        </p:nvSpPr>
        <p:spPr>
          <a:xfrm>
            <a:off x="8009467" y="2317725"/>
            <a:ext cx="358140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 smtClean="0"/>
              <a:t>V. </a:t>
            </a:r>
            <a:r>
              <a:rPr lang="en-US" sz="2000" dirty="0" err="1" smtClean="0"/>
              <a:t>Jha</a:t>
            </a:r>
            <a:endParaRPr lang="en-US" sz="2000" dirty="0" smtClean="0"/>
          </a:p>
          <a:p>
            <a:pPr lvl="0">
              <a:defRPr/>
            </a:pP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S. P. </a:t>
            </a:r>
            <a:r>
              <a:rPr kumimoji="0" lang="en-US" sz="200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Behera</a:t>
            </a: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>
              <a:defRPr/>
            </a:pPr>
            <a:r>
              <a:rPr lang="en-US" sz="2000" dirty="0" smtClean="0">
                <a:latin typeface="Calibri"/>
              </a:rPr>
              <a:t>R. </a:t>
            </a:r>
            <a:r>
              <a:rPr lang="en-US" sz="2000" dirty="0" err="1" smtClean="0">
                <a:latin typeface="Calibri"/>
              </a:rPr>
              <a:t>Sehgal</a:t>
            </a:r>
            <a:endParaRPr lang="en-US" sz="2000" dirty="0" smtClean="0">
              <a:latin typeface="Calibri"/>
            </a:endParaRPr>
          </a:p>
          <a:p>
            <a:pPr lvl="0">
              <a:defRPr/>
            </a:pPr>
            <a:r>
              <a:rPr kumimoji="0" lang="en-US" sz="200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Kirtikesh</a:t>
            </a:r>
            <a:r>
              <a:rPr kumimoji="0" lang="en-US" sz="200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Kumar</a:t>
            </a:r>
          </a:p>
          <a:p>
            <a:pPr lvl="0">
              <a:defRPr/>
            </a:pPr>
            <a:r>
              <a:rPr lang="en-US" sz="2000" baseline="0" dirty="0" smtClean="0">
                <a:latin typeface="Calibri"/>
              </a:rPr>
              <a:t>(NPD, BARC)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800" b="1" spc="-1" dirty="0" smtClean="0">
                <a:solidFill>
                  <a:srgbClr val="C00000"/>
                </a:solidFill>
              </a:rPr>
              <a:t>Neutrinos – GW combined measurements:</a:t>
            </a:r>
            <a:endParaRPr lang="en-IN" sz="2800" b="1" spc="-1" dirty="0">
              <a:solidFill>
                <a:srgbClr val="C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2922" y="1511686"/>
            <a:ext cx="5977466" cy="340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721165" y="5557650"/>
            <a:ext cx="3704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 smtClean="0">
                <a:solidFill>
                  <a:srgbClr val="C00000"/>
                </a:solidFill>
              </a:rPr>
              <a:t>Supernova Neutrinos </a:t>
            </a:r>
            <a:r>
              <a:rPr lang="en-IN" b="1" spc="-1" dirty="0" smtClean="0">
                <a:solidFill>
                  <a:srgbClr val="C00000"/>
                </a:solidFill>
              </a:rPr>
              <a:t> time evolution</a:t>
            </a:r>
            <a:endParaRPr lang="en-IN" b="1" spc="-1" dirty="0">
              <a:solidFill>
                <a:srgbClr val="C0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86744" y="2189086"/>
            <a:ext cx="4902200" cy="2848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153100" y="591872"/>
            <a:ext cx="9880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 smtClean="0">
                <a:solidFill>
                  <a:srgbClr val="C00000"/>
                </a:solidFill>
              </a:rPr>
              <a:t>Low energy neutrinos from Supernova are responsible for carrying most of the energy of collapse and provide unique insights into stellar evolution </a:t>
            </a:r>
            <a:endParaRPr lang="en-IN" b="1" spc="-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99248" y="5295982"/>
            <a:ext cx="4510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 smtClean="0">
                <a:solidFill>
                  <a:srgbClr val="C00000"/>
                </a:solidFill>
              </a:rPr>
              <a:t>Time integrated Supernova </a:t>
            </a:r>
            <a:r>
              <a:rPr lang="en-IN" b="1" spc="-1" dirty="0" smtClean="0">
                <a:solidFill>
                  <a:srgbClr val="C00000"/>
                </a:solidFill>
              </a:rPr>
              <a:t>Neutrinos </a:t>
            </a:r>
            <a:r>
              <a:rPr lang="en-IN" b="1" spc="-1" dirty="0" smtClean="0">
                <a:solidFill>
                  <a:srgbClr val="C00000"/>
                </a:solidFill>
              </a:rPr>
              <a:t>spectra</a:t>
            </a:r>
            <a:endParaRPr lang="en-IN" b="1" spc="-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800" b="1" spc="-1" dirty="0" smtClean="0">
                <a:solidFill>
                  <a:srgbClr val="C00000"/>
                </a:solidFill>
              </a:rPr>
              <a:t>    </a:t>
            </a:r>
            <a:r>
              <a:rPr lang="en-IN" sz="2800" b="1" spc="-1" dirty="0" smtClean="0">
                <a:solidFill>
                  <a:srgbClr val="C00000"/>
                </a:solidFill>
              </a:rPr>
              <a:t>Feasibility studies of measurements of neutrinos by IBD :</a:t>
            </a:r>
            <a:endParaRPr lang="en-IN" sz="2800" b="1" spc="-1" dirty="0">
              <a:solidFill>
                <a:srgbClr val="C0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680200" y="1151467"/>
            <a:ext cx="4343400" cy="3640667"/>
            <a:chOff x="7649495" y="1686834"/>
            <a:chExt cx="2650463" cy="263936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11143" t="19665" b="13971"/>
            <a:stretch/>
          </p:blipFill>
          <p:spPr>
            <a:xfrm>
              <a:off x="7649495" y="1686834"/>
              <a:ext cx="2650463" cy="263936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747217" y="2655768"/>
              <a:ext cx="460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 smtClean="0">
                  <a:solidFill>
                    <a:srgbClr val="C00000"/>
                  </a:solidFill>
                </a:rPr>
                <a:t>Digital</a:t>
              </a:r>
            </a:p>
            <a:p>
              <a:pPr algn="ctr"/>
              <a:r>
                <a:rPr lang="en-US" sz="800" b="1" dirty="0" smtClean="0">
                  <a:solidFill>
                    <a:srgbClr val="C00000"/>
                  </a:solidFill>
                </a:rPr>
                <a:t>DAQ</a:t>
              </a:r>
              <a:endParaRPr lang="en-IN" sz="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75E158D-3A7B-7C44-BD27-417570D6B11A}"/>
              </a:ext>
            </a:extLst>
          </p:cNvPr>
          <p:cNvSpPr/>
          <p:nvPr/>
        </p:nvSpPr>
        <p:spPr>
          <a:xfrm>
            <a:off x="313264" y="2241524"/>
            <a:ext cx="579120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Font typeface="Wingdings" pitchFamily="2" charset="2"/>
              <a:buChar char="Ø"/>
              <a:defRPr/>
            </a:pP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Presently engaged in </a:t>
            </a:r>
            <a:r>
              <a:rPr lang="en-IN" b="1" spc="-1" dirty="0" smtClean="0"/>
              <a:t>Antineutrino measurements </a:t>
            </a:r>
            <a:r>
              <a:rPr lang="en-IN" b="1" spc="-1" dirty="0" smtClean="0"/>
              <a:t>at </a:t>
            </a:r>
            <a:r>
              <a:rPr lang="en-IN" b="1" spc="-1" dirty="0" err="1" smtClean="0"/>
              <a:t>Dhruva</a:t>
            </a:r>
            <a:r>
              <a:rPr lang="en-IN" b="1" spc="-1" dirty="0" smtClean="0"/>
              <a:t> </a:t>
            </a:r>
            <a:r>
              <a:rPr lang="en-IN" b="1" spc="-1" dirty="0" smtClean="0"/>
              <a:t>reactor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100 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MW reactor with Nat U core  with D</a:t>
            </a:r>
            <a:r>
              <a:rPr kumimoji="0" lang="en-GB" b="1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moderation at BARC, 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Mumbai) using </a:t>
            </a:r>
            <a:r>
              <a:rPr lang="en-GB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Indian </a:t>
            </a:r>
            <a:r>
              <a:rPr kumimoji="0" lang="en-GB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Scintillator</a:t>
            </a: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Matrix for </a:t>
            </a:r>
            <a:r>
              <a:rPr kumimoji="0" lang="en-IN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Reactor Anti-Neutrinos (ISMRAN) </a:t>
            </a:r>
            <a:r>
              <a:rPr lang="en-IN" b="1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plac</a:t>
            </a:r>
            <a:r>
              <a:rPr kumimoji="0" lang="en-IN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</a:t>
            </a:r>
            <a:r>
              <a:rPr kumimoji="0" lang="en-IN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at 13m from core centre</a:t>
            </a: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n-GB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defRPr/>
            </a:pPr>
            <a:endParaRPr kumimoji="0" lang="en-GB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buFont typeface="Wingdings" pitchFamily="2" charset="2"/>
              <a:buChar char="Ø"/>
              <a:defRPr/>
            </a:pP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Plans for building large detector for antineutrino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measurements at </a:t>
            </a:r>
            <a:r>
              <a:rPr kumimoji="0" lang="en-GB" b="1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Kudankulam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(2 x 3GWth operational, 4 more planned )   </a:t>
            </a: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lvl="0" algn="just">
              <a:buFont typeface="Wingdings" pitchFamily="2" charset="2"/>
              <a:buChar char="Ø"/>
              <a:defRPr/>
            </a:pP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buFont typeface="Wingdings" pitchFamily="2" charset="2"/>
              <a:buChar char="Ø"/>
              <a:defRPr/>
            </a:pP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Expected count rates for supernova neutrinos 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5 counts in 30T detector – seems unfeasible unless we build mega </a:t>
            </a:r>
            <a:r>
              <a:rPr kumimoji="0" lang="en-GB" b="1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kT</a:t>
            </a:r>
            <a:r>
              <a:rPr kumimoji="0" lang="en-GB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detectors </a:t>
            </a:r>
            <a:r>
              <a:rPr kumimoji="0" lang="en-GB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1767" y="795867"/>
            <a:ext cx="3632071" cy="138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spc="-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3333FF"/>
                </a:solidFill>
              </a:rPr>
              <a:t>I</a:t>
            </a:r>
            <a:r>
              <a:rPr lang="en-US" sz="2400" b="1" dirty="0" smtClean="0">
                <a:solidFill>
                  <a:srgbClr val="C00000"/>
                </a:solidFill>
              </a:rPr>
              <a:t>ndia </a:t>
            </a:r>
            <a:r>
              <a:rPr lang="en-US" sz="2400" b="1" dirty="0" smtClean="0">
                <a:solidFill>
                  <a:srgbClr val="C00000"/>
                </a:solidFill>
              </a:rPr>
              <a:t>based </a:t>
            </a:r>
            <a:r>
              <a:rPr lang="en-US" sz="2400" b="1" dirty="0" smtClean="0">
                <a:solidFill>
                  <a:srgbClr val="3333FF"/>
                </a:solidFill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</a:rPr>
              <a:t>oherent </a:t>
            </a:r>
            <a:r>
              <a:rPr lang="en-US" sz="2400" b="1" dirty="0" smtClean="0">
                <a:solidFill>
                  <a:srgbClr val="3333FF"/>
                </a:solidFill>
              </a:rPr>
              <a:t>N</a:t>
            </a:r>
            <a:r>
              <a:rPr lang="en-US" sz="2400" b="1" dirty="0" smtClean="0">
                <a:solidFill>
                  <a:srgbClr val="C00000"/>
                </a:solidFill>
              </a:rPr>
              <a:t>eutrino Nucleus </a:t>
            </a:r>
            <a:r>
              <a:rPr lang="en-US" sz="2400" b="1" dirty="0" smtClean="0">
                <a:solidFill>
                  <a:srgbClr val="3333FF"/>
                </a:solidFill>
              </a:rPr>
              <a:t>S</a:t>
            </a:r>
            <a:r>
              <a:rPr lang="en-US" sz="2400" b="1" dirty="0" smtClean="0">
                <a:solidFill>
                  <a:srgbClr val="C00000"/>
                </a:solidFill>
              </a:rPr>
              <a:t>cattering </a:t>
            </a:r>
            <a:r>
              <a:rPr lang="en-US" sz="2400" b="1" dirty="0" smtClean="0">
                <a:solidFill>
                  <a:srgbClr val="3333FF"/>
                </a:solidFill>
              </a:rPr>
              <a:t>E</a:t>
            </a:r>
            <a:r>
              <a:rPr lang="en-US" sz="2400" b="1" dirty="0" smtClean="0">
                <a:solidFill>
                  <a:srgbClr val="C00000"/>
                </a:solidFill>
              </a:rPr>
              <a:t>xperiment (</a:t>
            </a:r>
            <a:r>
              <a:rPr lang="en-US" sz="2400" b="1" dirty="0" smtClean="0">
                <a:solidFill>
                  <a:srgbClr val="3333FF"/>
                </a:solidFill>
              </a:rPr>
              <a:t>ICNSE</a:t>
            </a:r>
            <a:r>
              <a:rPr lang="en-US" sz="2400" b="1" dirty="0" smtClean="0">
                <a:solidFill>
                  <a:srgbClr val="C00000"/>
                </a:solidFill>
              </a:rPr>
              <a:t>) at </a:t>
            </a:r>
            <a:r>
              <a:rPr lang="en-US" sz="2400" b="1" dirty="0" err="1" smtClean="0">
                <a:solidFill>
                  <a:srgbClr val="C00000"/>
                </a:solidFill>
              </a:rPr>
              <a:t>Apsara</a:t>
            </a:r>
            <a:r>
              <a:rPr lang="en-US" sz="2400" b="1" dirty="0" smtClean="0">
                <a:solidFill>
                  <a:srgbClr val="C00000"/>
                </a:solidFill>
              </a:rPr>
              <a:t>-U :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59" y="1322433"/>
            <a:ext cx="2735246" cy="2251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866" y="1142226"/>
            <a:ext cx="4207934" cy="26130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024" y="645067"/>
            <a:ext cx="11011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 smtClean="0">
                <a:solidFill>
                  <a:srgbClr val="C00000"/>
                </a:solidFill>
              </a:rPr>
              <a:t>Collaboration among BARC, NISER </a:t>
            </a:r>
            <a:r>
              <a:rPr lang="en-IN" b="1" spc="-1" dirty="0" err="1" smtClean="0">
                <a:solidFill>
                  <a:srgbClr val="C00000"/>
                </a:solidFill>
              </a:rPr>
              <a:t>Bhubaneshwar</a:t>
            </a:r>
            <a:r>
              <a:rPr lang="en-IN" b="1" spc="-1" dirty="0" smtClean="0">
                <a:solidFill>
                  <a:srgbClr val="C00000"/>
                </a:solidFill>
              </a:rPr>
              <a:t> </a:t>
            </a:r>
            <a:r>
              <a:rPr lang="en-IN" b="1" spc="-1" dirty="0" smtClean="0">
                <a:solidFill>
                  <a:srgbClr val="C00000"/>
                </a:solidFill>
              </a:rPr>
              <a:t>and TAMU-USA to build 10-30 Kg </a:t>
            </a:r>
            <a:r>
              <a:rPr lang="en-IN" b="1" spc="-1" dirty="0" err="1" smtClean="0">
                <a:solidFill>
                  <a:srgbClr val="C00000"/>
                </a:solidFill>
              </a:rPr>
              <a:t>Ge</a:t>
            </a:r>
            <a:r>
              <a:rPr lang="en-IN" b="1" spc="-1" dirty="0" smtClean="0">
                <a:solidFill>
                  <a:srgbClr val="C00000"/>
                </a:solidFill>
              </a:rPr>
              <a:t> detector operating at </a:t>
            </a:r>
            <a:r>
              <a:rPr lang="en-IN" b="1" spc="-1" dirty="0" err="1" smtClean="0">
                <a:solidFill>
                  <a:srgbClr val="C00000"/>
                </a:solidFill>
              </a:rPr>
              <a:t>mK</a:t>
            </a:r>
            <a:r>
              <a:rPr lang="en-IN" b="1" spc="-1" dirty="0" smtClean="0">
                <a:solidFill>
                  <a:srgbClr val="C00000"/>
                </a:solidFill>
              </a:rPr>
              <a:t>   </a:t>
            </a:r>
            <a:endParaRPr lang="en-IN" b="1" spc="-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82668" y="1753087"/>
            <a:ext cx="23872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altLang="en-US" b="1" dirty="0">
                <a:solidFill>
                  <a:srgbClr val="7030A0"/>
                </a:solidFill>
                <a:latin typeface="+mj-lt"/>
              </a:rPr>
              <a:t>Advantages of </a:t>
            </a:r>
            <a:r>
              <a:rPr lang="en-IN" altLang="en-US" b="1" dirty="0" smtClean="0">
                <a:solidFill>
                  <a:srgbClr val="7030A0"/>
                </a:solidFill>
                <a:latin typeface="+mj-lt"/>
              </a:rPr>
              <a:t>CENNS :</a:t>
            </a:r>
            <a:r>
              <a:rPr lang="en-IN" altLang="en-US" b="1" dirty="0" smtClean="0">
                <a:latin typeface="+mj-lt"/>
              </a:rPr>
              <a:t> </a:t>
            </a:r>
            <a:r>
              <a:rPr lang="en-IN" altLang="en-US" b="1" dirty="0">
                <a:latin typeface="+mj-lt"/>
              </a:rPr>
              <a:t>High </a:t>
            </a:r>
            <a:r>
              <a:rPr lang="en-IN" altLang="en-US" b="1" dirty="0" smtClean="0">
                <a:latin typeface="+mj-lt"/>
              </a:rPr>
              <a:t>cross sections (</a:t>
            </a:r>
            <a:r>
              <a:rPr lang="el-GR" sz="2400" b="1" dirty="0" smtClean="0">
                <a:solidFill>
                  <a:srgbClr val="C00000"/>
                </a:solidFill>
              </a:rPr>
              <a:t>σ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l-GR" sz="2400" b="1" dirty="0" smtClean="0">
                <a:solidFill>
                  <a:srgbClr val="C00000"/>
                </a:solidFill>
              </a:rPr>
              <a:t>~</a:t>
            </a:r>
            <a:r>
              <a:rPr lang="en-US" sz="2400" b="1" dirty="0" smtClean="0">
                <a:solidFill>
                  <a:srgbClr val="C00000"/>
                </a:solidFill>
              </a:rPr>
              <a:t> N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400" b="1" dirty="0" smtClean="0"/>
              <a:t>) </a:t>
            </a:r>
            <a:endParaRPr lang="en-IN" altLang="en-US" sz="2400" b="1" dirty="0">
              <a:latin typeface="+mj-lt"/>
            </a:endParaRPr>
          </a:p>
        </p:txBody>
      </p:sp>
      <p:sp>
        <p:nvSpPr>
          <p:cNvPr id="11" name="TextShape 5"/>
          <p:cNvSpPr txBox="1"/>
          <p:nvPr/>
        </p:nvSpPr>
        <p:spPr>
          <a:xfrm>
            <a:off x="456169" y="3795656"/>
            <a:ext cx="4175097" cy="2207210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lIns="108846" tIns="54423" rIns="108846" bIns="54423">
            <a:noAutofit/>
          </a:bodyPr>
          <a:lstStyle/>
          <a:p>
            <a:r>
              <a:rPr lang="en-IN" sz="2000" spc="-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It is an excellent probe </a:t>
            </a:r>
            <a:r>
              <a:rPr lang="en-IN" sz="2000" spc="-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for “Physics Beyond </a:t>
            </a:r>
            <a:r>
              <a:rPr lang="en-IN" sz="2000" spc="-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Standard Model” :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>
                <a:latin typeface="Calibri" pitchFamily="34" charset="0"/>
                <a:cs typeface="Calibri" pitchFamily="34" charset="0"/>
              </a:rPr>
              <a:t>Sterile neutrino </a:t>
            </a:r>
            <a:r>
              <a:rPr lang="en-IN" spc="-1" dirty="0" smtClean="0">
                <a:latin typeface="Calibri" pitchFamily="34" charset="0"/>
                <a:cs typeface="Calibri" pitchFamily="34" charset="0"/>
              </a:rPr>
              <a:t>oscillations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 smtClean="0">
                <a:latin typeface="Calibri" pitchFamily="34" charset="0"/>
                <a:cs typeface="Calibri" pitchFamily="34" charset="0"/>
              </a:rPr>
              <a:t>Non-standard interaction</a:t>
            </a:r>
            <a:endParaRPr lang="en-IN" spc="-1" dirty="0">
              <a:latin typeface="Calibri" pitchFamily="34" charset="0"/>
              <a:cs typeface="Calibri" pitchFamily="34" charset="0"/>
            </a:endParaRP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>
                <a:latin typeface="Calibri" pitchFamily="34" charset="0"/>
                <a:cs typeface="Calibri" pitchFamily="34" charset="0"/>
              </a:rPr>
              <a:t>Magnetic moment of </a:t>
            </a:r>
            <a:r>
              <a:rPr lang="en-IN" spc="-1" dirty="0" smtClean="0">
                <a:latin typeface="Calibri" pitchFamily="34" charset="0"/>
                <a:cs typeface="Calibri" pitchFamily="34" charset="0"/>
              </a:rPr>
              <a:t>neutrino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 smtClean="0">
                <a:latin typeface="Calibri" pitchFamily="34" charset="0"/>
                <a:cs typeface="Calibri" pitchFamily="34" charset="0"/>
              </a:rPr>
              <a:t>Quantum Coherency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 smtClean="0">
                <a:latin typeface="Calibri" pitchFamily="34" charset="0"/>
                <a:cs typeface="Calibri" pitchFamily="34" charset="0"/>
              </a:rPr>
              <a:t>Application : Reactor monitoring</a:t>
            </a:r>
          </a:p>
          <a:p>
            <a:pPr marL="261230" indent="-261230">
              <a:buClr>
                <a:srgbClr val="000000"/>
              </a:buClr>
              <a:buSzPct val="45000"/>
            </a:pPr>
            <a:endParaRPr lang="en-IN" spc="-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49800" y="3886538"/>
            <a:ext cx="39962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altLang="en-US" dirty="0" smtClean="0">
                <a:latin typeface="Calibri" pitchFamily="34" charset="0"/>
                <a:cs typeface="Calibri" pitchFamily="34" charset="0"/>
              </a:rPr>
              <a:t>Background </a:t>
            </a:r>
            <a:r>
              <a:rPr lang="en-IN" altLang="en-US" dirty="0" smtClean="0">
                <a:latin typeface="Calibri" pitchFamily="34" charset="0"/>
                <a:cs typeface="Calibri" pitchFamily="34" charset="0"/>
              </a:rPr>
              <a:t>for dark matter searches</a:t>
            </a:r>
            <a:endParaRPr lang="en-IN" spc="-1" dirty="0" smtClean="0">
              <a:latin typeface="Calibri" pitchFamily="34" charset="0"/>
              <a:cs typeface="Calibri" pitchFamily="34" charset="0"/>
            </a:endParaRP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b="1" spc="-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Core-collapse Supernovae 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 smtClean="0">
                <a:latin typeface="Calibri" pitchFamily="34" charset="0"/>
                <a:cs typeface="Calibri" pitchFamily="34" charset="0"/>
              </a:rPr>
              <a:t>Dynamics of stellar explosion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 smtClean="0">
                <a:latin typeface="Calibri" pitchFamily="34" charset="0"/>
                <a:cs typeface="Calibri" pitchFamily="34" charset="0"/>
              </a:rPr>
              <a:t>Several other fundamental topics</a:t>
            </a:r>
          </a:p>
        </p:txBody>
      </p:sp>
      <p:sp>
        <p:nvSpPr>
          <p:cNvPr id="13" name="TextShape 5"/>
          <p:cNvSpPr txBox="1"/>
          <p:nvPr/>
        </p:nvSpPr>
        <p:spPr>
          <a:xfrm>
            <a:off x="8246533" y="4566122"/>
            <a:ext cx="3708400" cy="1817745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lIns="108846" tIns="54423" rIns="108846" bIns="54423">
            <a:noAutofit/>
          </a:bodyPr>
          <a:lstStyle/>
          <a:p>
            <a:r>
              <a:rPr lang="en-IN" sz="2000" b="1" spc="-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Detectors for CENNS : </a:t>
            </a:r>
            <a:endParaRPr lang="en-IN" sz="2000" b="1" spc="-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 smtClean="0">
                <a:latin typeface="Calibri" pitchFamily="34" charset="0"/>
                <a:cs typeface="Calibri" pitchFamily="34" charset="0"/>
              </a:rPr>
              <a:t>Phonon (</a:t>
            </a:r>
            <a:r>
              <a:rPr lang="en-IN" altLang="en-US" dirty="0" smtClean="0"/>
              <a:t>Cryogenic Si, </a:t>
            </a:r>
            <a:r>
              <a:rPr lang="en-IN" altLang="en-US" dirty="0" err="1" smtClean="0"/>
              <a:t>Ge</a:t>
            </a:r>
            <a:r>
              <a:rPr lang="en-IN" altLang="en-US" dirty="0" smtClean="0"/>
              <a:t> , other material )</a:t>
            </a:r>
            <a:endParaRPr lang="en-IN" spc="-1" dirty="0" smtClean="0">
              <a:latin typeface="Calibri" pitchFamily="34" charset="0"/>
              <a:cs typeface="Calibri" pitchFamily="34" charset="0"/>
            </a:endParaRP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pc="-1" dirty="0" smtClean="0">
                <a:latin typeface="Calibri" pitchFamily="34" charset="0"/>
                <a:cs typeface="Calibri" pitchFamily="34" charset="0"/>
              </a:rPr>
              <a:t>Ionization (</a:t>
            </a:r>
            <a:r>
              <a:rPr lang="en-US" dirty="0" err="1" smtClean="0">
                <a:solidFill>
                  <a:srgbClr val="000000"/>
                </a:solidFill>
              </a:rPr>
              <a:t>Ge</a:t>
            </a:r>
            <a:r>
              <a:rPr lang="en-US" dirty="0" smtClean="0">
                <a:solidFill>
                  <a:srgbClr val="000000"/>
                </a:solidFill>
              </a:rPr>
              <a:t>, Si</a:t>
            </a:r>
            <a:r>
              <a:rPr lang="en-IN" spc="-1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altLang="en-US" dirty="0" smtClean="0"/>
              <a:t>Scintillating crystal (</a:t>
            </a:r>
            <a:r>
              <a:rPr lang="en-IN" altLang="en-US" dirty="0" err="1" smtClean="0"/>
              <a:t>CsI</a:t>
            </a:r>
            <a:r>
              <a:rPr lang="en-IN" altLang="en-US" dirty="0" smtClean="0"/>
              <a:t>, </a:t>
            </a:r>
            <a:r>
              <a:rPr lang="en-IN" altLang="en-US" dirty="0" err="1" smtClean="0"/>
              <a:t>NaI</a:t>
            </a:r>
            <a:r>
              <a:rPr lang="en-IN" altLang="en-US" dirty="0" smtClean="0"/>
              <a:t>), Noble liquid)</a:t>
            </a:r>
            <a:endParaRPr lang="en-IN" spc="-1" dirty="0" smtClean="0">
              <a:latin typeface="Calibri" pitchFamily="34" charset="0"/>
              <a:cs typeface="Calibri" pitchFamily="34" charset="0"/>
            </a:endParaRPr>
          </a:p>
          <a:p>
            <a:pPr marL="261230" indent="-261230">
              <a:buClr>
                <a:srgbClr val="000000"/>
              </a:buClr>
              <a:buSzPct val="45000"/>
            </a:pPr>
            <a:endParaRPr lang="en-IN" spc="-1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1835-5839-4804-9EB3-50A87946BFF8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800" b="1" spc="-1" dirty="0" smtClean="0">
                <a:solidFill>
                  <a:srgbClr val="C00000"/>
                </a:solidFill>
              </a:rPr>
              <a:t>    </a:t>
            </a:r>
            <a:r>
              <a:rPr lang="en-IN" sz="2800" b="1" spc="-1" dirty="0" smtClean="0">
                <a:solidFill>
                  <a:srgbClr val="C00000"/>
                </a:solidFill>
              </a:rPr>
              <a:t>Feasibility studies of measurements of neutrinos by CENNS :</a:t>
            </a:r>
            <a:endParaRPr lang="en-IN" sz="2800" b="1" spc="-1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199" y="878099"/>
            <a:ext cx="6891867" cy="240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53999" y="3331401"/>
            <a:ext cx="102023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Font typeface="Wingdings" pitchFamily="2" charset="2"/>
              <a:buChar char="Ø"/>
              <a:defRPr/>
            </a:pP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CENNS measurements can be augmented, as we have proposal towards setting up a  100 kg </a:t>
            </a: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detector at an underground facility in </a:t>
            </a: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Vizag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23333" y="4101870"/>
            <a:ext cx="102023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Font typeface="Wingdings" pitchFamily="2" charset="2"/>
              <a:buChar char="Ø"/>
              <a:defRPr/>
            </a:pP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Expertise in GEANT-4 based Simulation studies of detector responses and optimization of   Radiation shielding design and simulation</a:t>
            </a:r>
          </a:p>
          <a:p>
            <a:pPr lvl="0" algn="just">
              <a:buFont typeface="Wingdings" pitchFamily="2" charset="2"/>
              <a:buChar char="Ø"/>
              <a:defRPr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buFont typeface="Wingdings" pitchFamily="2" charset="2"/>
              <a:buChar char="Ø"/>
              <a:defRPr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Data Acquisition and analysis of large data and efficient management of data storage</a:t>
            </a: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buFont typeface="Wingdings" pitchFamily="2" charset="2"/>
              <a:buChar char="Ø"/>
              <a:defRPr/>
            </a:pP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24467" y="2904067"/>
            <a:ext cx="6028266" cy="220133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361</Words>
  <Application>Microsoft Office PowerPoint</Application>
  <PresentationFormat>Custom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Possible collaboration and contributions towards LIGO-India 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Lalit Pant</dc:creator>
  <cp:lastModifiedBy>Admin</cp:lastModifiedBy>
  <cp:revision>61</cp:revision>
  <dcterms:created xsi:type="dcterms:W3CDTF">2021-12-28T00:10:34Z</dcterms:created>
  <dcterms:modified xsi:type="dcterms:W3CDTF">2023-08-17T00:46:18Z</dcterms:modified>
</cp:coreProperties>
</file>